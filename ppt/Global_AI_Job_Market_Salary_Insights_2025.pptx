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3ED6F0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Switzerland</c:v>
                  </c:pt>
                  <c:pt idx="1">
                    <c:v>United States</c:v>
                  </c:pt>
                  <c:pt idx="2">
                    <c:v>Sweden</c:v>
                  </c:pt>
                  <c:pt idx="3">
                    <c:v>United Kingdom</c:v>
                  </c:pt>
                  <c:pt idx="4">
                    <c:v>South Korea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</c:v>
                </c:pt>
                <c:pt idx="1">
                  <c:v>110</c:v>
                </c:pt>
                <c:pt idx="2">
                  <c:v>105</c:v>
                </c:pt>
                <c:pt idx="3">
                  <c:v>90</c:v>
                </c:pt>
                <c:pt idx="4">
                  <c:v>68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5A2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</c:v>
                  </c:pt>
                  <c:pt idx="1">
                    <c:v>SE</c:v>
                  </c:pt>
                  <c:pt idx="2">
                    <c:v>MI</c:v>
                  </c:pt>
                  <c:pt idx="3">
                    <c:v>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245</c:v>
                </c:pt>
                <c:pt idx="1">
                  <c:v>142</c:v>
                </c:pt>
                <c:pt idx="2">
                  <c:v>88</c:v>
                </c:pt>
                <c:pt idx="3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5CE8B5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NLP Engineer</c:v>
                  </c:pt>
                  <c:pt idx="1">
                    <c:v>Head of AI</c:v>
                  </c:pt>
                  <c:pt idx="2">
                    <c:v>Data Engineer</c:v>
                  </c:pt>
                  <c:pt idx="3">
                    <c:v>ML Ops Engineer</c:v>
                  </c:pt>
                  <c:pt idx="4">
                    <c:v>AI Product Manager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90</c:v>
                </c:pt>
                <c:pt idx="2">
                  <c:v>84</c:v>
                </c:pt>
                <c:pt idx="3">
                  <c:v>81</c:v>
                </c:pt>
                <c:pt idx="4">
                  <c:v>80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D6F0"/>
              </a:solidFill>
              <a:effectLst/>
            </c:spPr>
          </c:dPt>
          <c:dPt>
            <c:idx val="1"/>
            <c:bubble3D val="0"/>
            <c:spPr>
              <a:solidFill>
                <a:srgbClr val="C24BB0"/>
              </a:solidFill>
              <a:effectLst/>
            </c:spPr>
          </c:dPt>
          <c:dPt>
            <c:idx val="2"/>
            <c:bubble3D val="0"/>
            <c:spPr>
              <a:solidFill>
                <a:srgbClr val="F5A25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Onsite</c:v>
                </c:pt>
                <c:pt idx="1">
                  <c:v>Remote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45.45</c:v>
                </c:pt>
                <c:pt idx="1">
                  <c:v>36.36</c:v>
                </c:pt>
                <c:pt idx="2">
                  <c:v>18.18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3ED6F0"/>
            </a:solidFill>
            <a:effectLst/>
          </c:spPr>
          <c:invertIfNegative val="0"/>
          <c:dLbls>
            <c:numFmt formatCode="0.0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Switzerland</c:v>
                  </c:pt>
                  <c:pt idx="1">
                    <c:v>United States</c:v>
                  </c:pt>
                  <c:pt idx="2">
                    <c:v>Sweden</c:v>
                  </c:pt>
                  <c:pt idx="3">
                    <c:v>United Kingdom</c:v>
                  </c:pt>
                  <c:pt idx="4">
                    <c:v>South Korea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0.27</c:v>
                </c:pt>
                <c:pt idx="1">
                  <c:v>0.21</c:v>
                </c:pt>
                <c:pt idx="2">
                  <c:v>0.2</c:v>
                </c:pt>
                <c:pt idx="3">
                  <c:v>0.18</c:v>
                </c:pt>
                <c:pt idx="4">
                  <c:v>0.16</c:v>
                </c:pt>
              </c:numCache>
            </c:numRef>
          </c:val>
        </c:ser>
        <c:dLbls>
          <c:numFmt formatCode="0.0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5A2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</c:v>
                  </c:pt>
                  <c:pt idx="1">
                    <c:v>SE</c:v>
                  </c:pt>
                  <c:pt idx="2">
                    <c:v>MI</c:v>
                  </c:pt>
                  <c:pt idx="3">
                    <c:v>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126</c:v>
                </c:pt>
                <c:pt idx="1">
                  <c:v>92</c:v>
                </c:pt>
                <c:pt idx="2">
                  <c:v>61</c:v>
                </c:pt>
                <c:pt idx="3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5CE8B5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AI Software Engineer</c:v>
                  </c:pt>
                  <c:pt idx="1">
                    <c:v>Autonomous Systems Eng.</c:v>
                  </c:pt>
                  <c:pt idx="2">
                    <c:v>Computer Vision Eng.</c:v>
                  </c:pt>
                  <c:pt idx="3">
                    <c:v>Head of 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183</c:v>
                </c:pt>
                <c:pt idx="1">
                  <c:v>153</c:v>
                </c:pt>
                <c:pt idx="2">
                  <c:v>108</c:v>
                </c:pt>
                <c:pt idx="3">
                  <c:v>93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D6F0"/>
              </a:solidFill>
              <a:effectLst/>
            </c:spPr>
          </c:dPt>
          <c:dPt>
            <c:idx val="1"/>
            <c:bubble3D val="0"/>
            <c:spPr>
              <a:solidFill>
                <a:srgbClr val="C24BB0"/>
              </a:solidFill>
              <a:effectLst/>
            </c:spPr>
          </c:dPt>
          <c:dPt>
            <c:idx val="2"/>
            <c:bubble3D val="0"/>
            <c:spPr>
              <a:solidFill>
                <a:srgbClr val="F5A25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Onsite</c:v>
                </c:pt>
                <c:pt idx="1">
                  <c:v>Remote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3ED6F0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Switzerland</c:v>
                  </c:pt>
                  <c:pt idx="1">
                    <c:v>United Kingdom</c:v>
                  </c:pt>
                  <c:pt idx="2">
                    <c:v>United States</c:v>
                  </c:pt>
                  <c:pt idx="3">
                    <c:v>Sweden</c:v>
                  </c:pt>
                  <c:pt idx="4">
                    <c:v>South Korea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166</c:v>
                </c:pt>
                <c:pt idx="1">
                  <c:v>140</c:v>
                </c:pt>
                <c:pt idx="2">
                  <c:v>138</c:v>
                </c:pt>
                <c:pt idx="3">
                  <c:v>121</c:v>
                </c:pt>
                <c:pt idx="4">
                  <c:v>99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F5A2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</c:v>
                  </c:pt>
                  <c:pt idx="1">
                    <c:v>SE</c:v>
                  </c:pt>
                  <c:pt idx="2">
                    <c:v>MI</c:v>
                  </c:pt>
                  <c:pt idx="3">
                    <c:v>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</c:v>
                </c:pt>
                <c:pt idx="1">
                  <c:v>116</c:v>
                </c:pt>
                <c:pt idx="2">
                  <c:v>92</c:v>
                </c:pt>
                <c:pt idx="3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5CE8B5"/>
            </a:solidFill>
            <a:effectLst/>
          </c:spPr>
          <c:invertIfNegative val="0"/>
          <c:dLbls>
            <c:numFmt formatCode="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AI Specialist</c:v>
                  </c:pt>
                  <c:pt idx="1">
                    <c:v>AI Consultant</c:v>
                  </c:pt>
                  <c:pt idx="2">
                    <c:v>Deep Learning Engineer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</c:v>
                </c:pt>
                <c:pt idx="1">
                  <c:v>114</c:v>
                </c:pt>
                <c:pt idx="2">
                  <c:v>108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6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6F1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A3F"/>
        </a:solidFill>
        <a:ln>
          <a:noFill/>
        </a:ln>
        <a:effectLst/>
      </c:spPr>
    </c:plotArea>
    <c:plotVisOnly val="1"/>
    <c:dispBlanksAs val="span"/>
  </c:chart>
  <c:spPr>
    <a:solidFill>
      <a:srgbClr val="0E1A3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D6F0"/>
              </a:solidFill>
              <a:effectLst/>
            </c:spPr>
          </c:dPt>
          <c:dPt>
            <c:idx val="1"/>
            <c:bubble3D val="0"/>
            <c:spPr>
              <a:solidFill>
                <a:srgbClr val="C24BB0"/>
              </a:solidFill>
              <a:effectLst/>
            </c:spPr>
          </c:dPt>
          <c:dPt>
            <c:idx val="2"/>
            <c:bubble3D val="0"/>
            <c:spPr>
              <a:solidFill>
                <a:srgbClr val="F5A25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60B1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Onsite</c:v>
                </c:pt>
                <c:pt idx="1">
                  <c:v>Remote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35.71</c:v>
                </c:pt>
                <c:pt idx="1">
                  <c:v>35.71</c:v>
                </c:pt>
                <c:pt idx="2">
                  <c:v>28.57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1.xml"/><Relationship Id="rId9" Type="http://schemas.openxmlformats.org/officeDocument/2006/relationships/chart" Target="/ppt/charts/chart2.xml"/><Relationship Id="rId11" Type="http://schemas.openxmlformats.org/officeDocument/2006/relationships/chart" Target="/ppt/charts/chart3.xml"/><Relationship Id="rId13" Type="http://schemas.openxmlformats.org/officeDocument/2006/relationships/chart" Target="/ppt/charts/chart4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image" Target="../media/image-3-3.png"/><Relationship Id="rId10" Type="http://schemas.openxmlformats.org/officeDocument/2006/relationships/image" Target="../media/image-3-8.png"/><Relationship Id="rId12" Type="http://schemas.openxmlformats.org/officeDocument/2006/relationships/image" Target="../media/image-3-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5.xml"/><Relationship Id="rId9" Type="http://schemas.openxmlformats.org/officeDocument/2006/relationships/chart" Target="/ppt/charts/chart6.xml"/><Relationship Id="rId11" Type="http://schemas.openxmlformats.org/officeDocument/2006/relationships/chart" Target="/ppt/charts/chart7.xml"/><Relationship Id="rId13" Type="http://schemas.openxmlformats.org/officeDocument/2006/relationships/chart" Target="/ppt/charts/chart8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image" Target="../media/image-4-3.png"/><Relationship Id="rId10" Type="http://schemas.openxmlformats.org/officeDocument/2006/relationships/image" Target="../media/image-4-8.png"/><Relationship Id="rId12" Type="http://schemas.openxmlformats.org/officeDocument/2006/relationships/image" Target="../media/image-4-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9.xml"/><Relationship Id="rId9" Type="http://schemas.openxmlformats.org/officeDocument/2006/relationships/chart" Target="/ppt/charts/chart10.xml"/><Relationship Id="rId11" Type="http://schemas.openxmlformats.org/officeDocument/2006/relationships/chart" Target="/ppt/charts/chart11.xml"/><Relationship Id="rId13" Type="http://schemas.openxmlformats.org/officeDocument/2006/relationships/chart" Target="/ppt/charts/chart1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8" Type="http://schemas.openxmlformats.org/officeDocument/2006/relationships/image" Target="../media/image-5-3.png"/><Relationship Id="rId10" Type="http://schemas.openxmlformats.org/officeDocument/2006/relationships/image" Target="../media/image-5-8.png"/><Relationship Id="rId12" Type="http://schemas.openxmlformats.org/officeDocument/2006/relationships/image" Target="../media/image-5-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-2057400"/>
            <a:ext cx="5943600" cy="5943600"/>
          </a:xfrm>
          <a:prstGeom prst="ellipse">
            <a:avLst/>
          </a:prstGeom>
          <a:solidFill>
            <a:srgbClr val="3ED6F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17320" y="3977640"/>
            <a:ext cx="5029200" cy="5029200"/>
          </a:xfrm>
          <a:prstGeom prst="ellipse">
            <a:avLst/>
          </a:prstGeom>
          <a:solidFill>
            <a:srgbClr val="C24BB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2834640"/>
            <a:ext cx="6400800" cy="6400800"/>
          </a:xfrm>
          <a:prstGeom prst="ellipse">
            <a:avLst/>
          </a:prstGeom>
          <a:solidFill>
            <a:srgbClr val="F5A25D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82296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41732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1168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0604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79476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8912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8348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57784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6350">
            <a:solidFill>
              <a:srgbClr val="1E2C55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4572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b="1" dirty="0">
                <a:solidFill>
                  <a:srgbClr val="1E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0" dirty="0"/>
          </a:p>
        </p:txBody>
      </p:sp>
      <p:sp>
        <p:nvSpPr>
          <p:cNvPr id="16" name="Shape 14"/>
          <p:cNvSpPr/>
          <p:nvPr/>
        </p:nvSpPr>
        <p:spPr>
          <a:xfrm>
            <a:off x="502920" y="2011680"/>
            <a:ext cx="1234440" cy="1234440"/>
          </a:xfrm>
          <a:prstGeom prst="ellipse">
            <a:avLst/>
          </a:prstGeom>
          <a:solidFill>
            <a:srgbClr val="3ED6F0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2167128"/>
            <a:ext cx="914400" cy="914400"/>
          </a:xfrm>
          <a:prstGeom prst="ellipse">
            <a:avLst/>
          </a:prstGeom>
          <a:solidFill>
            <a:srgbClr val="0E1A3F"/>
          </a:solidFill>
          <a:ln w="28575">
            <a:solidFill>
              <a:srgbClr val="3ED6F0"/>
            </a:solidFill>
            <a:prstDash val="solid"/>
          </a:ln>
        </p:spPr>
      </p:sp>
      <p:pic>
        <p:nvPicPr>
          <p:cNvPr id="18" name="Image 0" descr="/home/claude/aideck/icons/cpu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409444"/>
            <a:ext cx="429768" cy="4297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32461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JOB MARKET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SALARY INSIGHTS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566928" y="4709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comparative look at compensation, seniority, and work-mode trends across three market cuts of the global AI job dataset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66928" y="5623560"/>
            <a:ext cx="1543507" cy="365760"/>
          </a:xfrm>
          <a:prstGeom prst="roundRect">
            <a:avLst>
              <a:gd name="adj" fmla="val 500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623560"/>
            <a:ext cx="15435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Location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275027" y="5623560"/>
            <a:ext cx="899770" cy="365760"/>
          </a:xfrm>
          <a:prstGeom prst="roundRect">
            <a:avLst>
              <a:gd name="adj" fmla="val 500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75027" y="5623560"/>
            <a:ext cx="8997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39389" y="5623560"/>
            <a:ext cx="1543507" cy="365760"/>
          </a:xfrm>
          <a:prstGeom prst="roundRect">
            <a:avLst>
              <a:gd name="adj" fmla="val 500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39389" y="5623560"/>
            <a:ext cx="154350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Level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47488" y="5623560"/>
            <a:ext cx="980237" cy="365760"/>
          </a:xfrm>
          <a:prstGeom prst="roundRect">
            <a:avLst>
              <a:gd name="adj" fmla="val 500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47488" y="5623560"/>
            <a:ext cx="9802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Type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66928" y="6263640"/>
            <a:ext cx="1106424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live dashboard filters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4572000" cy="4572000"/>
          </a:xfrm>
          <a:prstGeom prst="ellipse">
            <a:avLst/>
          </a:prstGeom>
          <a:solidFill>
            <a:srgbClr val="3ED6F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47472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3ED6F0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56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Market Cuts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3611880" cy="4617720"/>
          </a:xfrm>
          <a:prstGeom prst="roundRect">
            <a:avLst>
              <a:gd name="adj" fmla="val 2278"/>
            </a:avLst>
          </a:prstGeom>
          <a:ln w="19050">
            <a:solidFill>
              <a:srgbClr val="3ED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A1230"/>
          </a:solidFill>
          <a:ln/>
        </p:spPr>
      </p:sp>
      <p:pic>
        <p:nvPicPr>
          <p:cNvPr id="9" name="Image 0" descr="/home/claude/aideck/icons/mappi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3794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824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· Media · Mid-Level (MI)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514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D0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76148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86.36K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777240" y="3611880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685032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12314" y="3685032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7240" y="4178808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251960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Salary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12314" y="4251960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84.00K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4745736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818888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Salary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512314" y="4818888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" y="5312664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385816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Experience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2314" y="5385816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 yrs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389120" y="146304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389120" y="1463040"/>
            <a:ext cx="3611880" cy="4617720"/>
          </a:xfrm>
          <a:prstGeom prst="roundRect">
            <a:avLst>
              <a:gd name="adj" fmla="val 2278"/>
            </a:avLst>
          </a:prstGeom>
          <a:ln w="19050">
            <a:solidFill>
              <a:srgbClr val="F5A25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17720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A1230"/>
          </a:solidFill>
          <a:ln/>
        </p:spPr>
      </p:sp>
      <p:pic>
        <p:nvPicPr>
          <p:cNvPr id="28" name="Image 1" descr="/home/claude/aideck/icons/award_light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37944"/>
            <a:ext cx="219456" cy="21945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12080" y="16824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· Gaming · Executive (EX)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617720" y="2514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D0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617720" y="276148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2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125.68K</a:t>
            </a:r>
            <a:endParaRPr lang="en-US" sz="3400" dirty="0"/>
          </a:p>
        </p:txBody>
      </p:sp>
      <p:sp>
        <p:nvSpPr>
          <p:cNvPr id="32" name="Shape 28"/>
          <p:cNvSpPr/>
          <p:nvPr/>
        </p:nvSpPr>
        <p:spPr>
          <a:xfrm>
            <a:off x="4617720" y="3611880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17720" y="3685032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352794" y="3685032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4617720" y="4178808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617720" y="4251960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Salary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352794" y="4251960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121.20K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4617720" y="4745736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17720" y="4818888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Salary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6352794" y="4818888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95K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4617720" y="5312664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17720" y="5385816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Experience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6352794" y="5385816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15.00 yrs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229600" y="146304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8229600" y="1463040"/>
            <a:ext cx="3611880" cy="4617720"/>
          </a:xfrm>
          <a:prstGeom prst="roundRect">
            <a:avLst>
              <a:gd name="adj" fmla="val 2278"/>
            </a:avLst>
          </a:prstGeom>
          <a:ln w="19050">
            <a:solidFill>
              <a:srgbClr val="5CE8B5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458200" y="1719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A1230"/>
          </a:solidFill>
          <a:ln/>
        </p:spPr>
      </p:sp>
      <p:pic>
        <p:nvPicPr>
          <p:cNvPr id="47" name="Image 2" descr="/home/claude/aideck/icons/hom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37944"/>
            <a:ext cx="219456" cy="219456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9052560" y="16824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· Education · Senior (SE)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8458200" y="2514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A3D0"/>
                </a:solidFill>
              </a:rPr>
              <a:t>AVG SALARY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8458200" y="276148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E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115.91K</a:t>
            </a:r>
            <a:endParaRPr lang="en-US" sz="3400" dirty="0"/>
          </a:p>
        </p:txBody>
      </p:sp>
      <p:sp>
        <p:nvSpPr>
          <p:cNvPr id="51" name="Shape 46"/>
          <p:cNvSpPr/>
          <p:nvPr/>
        </p:nvSpPr>
        <p:spPr>
          <a:xfrm>
            <a:off x="8458200" y="3611880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58200" y="3685032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Jobs</a:t>
            </a:r>
            <a:endParaRPr lang="en-US" sz="1200" dirty="0"/>
          </a:p>
        </p:txBody>
      </p:sp>
      <p:sp>
        <p:nvSpPr>
          <p:cNvPr id="53" name="Text 48"/>
          <p:cNvSpPr/>
          <p:nvPr/>
        </p:nvSpPr>
        <p:spPr>
          <a:xfrm>
            <a:off x="10193274" y="3685032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Shape 49"/>
          <p:cNvSpPr/>
          <p:nvPr/>
        </p:nvSpPr>
        <p:spPr>
          <a:xfrm>
            <a:off x="8458200" y="4178808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458200" y="4251960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Salary</a:t>
            </a:r>
            <a:endParaRPr lang="en-US" sz="1200" dirty="0"/>
          </a:p>
        </p:txBody>
      </p:sp>
      <p:sp>
        <p:nvSpPr>
          <p:cNvPr id="56" name="Text 51"/>
          <p:cNvSpPr/>
          <p:nvPr/>
        </p:nvSpPr>
        <p:spPr>
          <a:xfrm>
            <a:off x="10193274" y="4251960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116.46K</a:t>
            </a:r>
            <a:endParaRPr lang="en-US" sz="1400" dirty="0"/>
          </a:p>
        </p:txBody>
      </p:sp>
      <p:sp>
        <p:nvSpPr>
          <p:cNvPr id="57" name="Shape 52"/>
          <p:cNvSpPr/>
          <p:nvPr/>
        </p:nvSpPr>
        <p:spPr>
          <a:xfrm>
            <a:off x="8458200" y="4745736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458200" y="4818888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Salary</a:t>
            </a:r>
            <a:endParaRPr lang="en-US" sz="1200" dirty="0"/>
          </a:p>
        </p:txBody>
      </p:sp>
      <p:sp>
        <p:nvSpPr>
          <p:cNvPr id="59" name="Text 54"/>
          <p:cNvSpPr/>
          <p:nvPr/>
        </p:nvSpPr>
        <p:spPr>
          <a:xfrm>
            <a:off x="10193274" y="4818888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109K</a:t>
            </a:r>
            <a:endParaRPr lang="en-US" sz="1400" dirty="0"/>
          </a:p>
        </p:txBody>
      </p:sp>
      <p:sp>
        <p:nvSpPr>
          <p:cNvPr id="60" name="Shape 55"/>
          <p:cNvSpPr/>
          <p:nvPr/>
        </p:nvSpPr>
        <p:spPr>
          <a:xfrm>
            <a:off x="8458200" y="5312664"/>
            <a:ext cx="3154680" cy="0"/>
          </a:xfrm>
          <a:prstGeom prst="line">
            <a:avLst/>
          </a:prstGeom>
          <a:noFill/>
          <a:ln w="12700">
            <a:solidFill>
              <a:srgbClr val="1E2C55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8458200" y="5385816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Experience</a:t>
            </a:r>
            <a:endParaRPr lang="en-US" sz="1200" dirty="0"/>
          </a:p>
        </p:txBody>
      </p:sp>
      <p:sp>
        <p:nvSpPr>
          <p:cNvPr id="62" name="Text 57"/>
          <p:cNvSpPr/>
          <p:nvPr/>
        </p:nvSpPr>
        <p:spPr>
          <a:xfrm>
            <a:off x="10193274" y="5385816"/>
            <a:ext cx="14196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6.75 yrs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3ED6F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256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CUT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· Media Industry · Mid-Level Talent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7" name="Image 0" descr="/home/claude/aideck/icons/dolla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86.36K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98064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2656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12" name="Image 1" descr="/home/claude/aideck/icons/briefc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8249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962656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047488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12080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17" name="Image 2" descr="/home/claude/aideck/icons/barcha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824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SALARY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212080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84.00K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296912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61504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22" name="Image 3" descr="/home/claude/aideck/icons/trenddown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682496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18704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SALARY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461504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9546336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710928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27" name="Image 4" descr="/home/claude/aideck/icons/clo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1682496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68128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EXPERIENCE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9710928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2.80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548640" y="26060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" y="27523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32" name="Image 5" descr="/home/claude/aideck/icons/mappin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820924"/>
            <a:ext cx="173736" cy="1737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70432" y="27249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LOCATION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731520" y="3136392"/>
          <a:ext cx="512064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5" name="Shape 26"/>
          <p:cNvSpPr/>
          <p:nvPr/>
        </p:nvSpPr>
        <p:spPr>
          <a:xfrm>
            <a:off x="6309360" y="26060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92240" y="27523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37" name="Image 6" descr="/home/claude/aideck/icons/barchart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820" y="2820924"/>
            <a:ext cx="173736" cy="1737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31152" y="2724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EXPERIENCE LEVEL</a:t>
            </a:r>
            <a:endParaRPr lang="en-US" sz="1100" dirty="0"/>
          </a:p>
        </p:txBody>
      </p:sp>
      <p:graphicFrame>
        <p:nvGraphicFramePr>
          <p:cNvPr id="39" name="Chart 1" descr=""/>
          <p:cNvGraphicFramePr/>
          <p:nvPr/>
        </p:nvGraphicFramePr>
        <p:xfrm>
          <a:off x="6492240" y="3136392"/>
          <a:ext cx="475488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0" name="Shape 29"/>
          <p:cNvSpPr/>
          <p:nvPr/>
        </p:nvSpPr>
        <p:spPr>
          <a:xfrm>
            <a:off x="548640" y="466344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731520" y="4809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42" name="Image 7" descr="/home/claude/aideck/icons/award_light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878324"/>
            <a:ext cx="173736" cy="17373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70432" y="47823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JOB TITLE</a:t>
            </a:r>
            <a:endParaRPr lang="en-US" sz="1100" dirty="0"/>
          </a:p>
        </p:txBody>
      </p:sp>
      <p:graphicFrame>
        <p:nvGraphicFramePr>
          <p:cNvPr id="44" name="Chart 2" descr=""/>
          <p:cNvGraphicFramePr/>
          <p:nvPr/>
        </p:nvGraphicFramePr>
        <p:xfrm>
          <a:off x="731520" y="5193792"/>
          <a:ext cx="5120640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5" name="Shape 32"/>
          <p:cNvSpPr/>
          <p:nvPr/>
        </p:nvSpPr>
        <p:spPr>
          <a:xfrm>
            <a:off x="6309360" y="46634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6492240" y="4809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47" name="Image 8" descr="/home/claude/aideck/icons/home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0820" y="4878324"/>
            <a:ext cx="173736" cy="173736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931152" y="47823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JOBS BY WORK TYPE</a:t>
            </a:r>
            <a:endParaRPr lang="en-US" sz="1100" dirty="0"/>
          </a:p>
        </p:txBody>
      </p:sp>
      <p:graphicFrame>
        <p:nvGraphicFramePr>
          <p:cNvPr id="49" name="Chart 3" descr=""/>
          <p:cNvGraphicFramePr/>
          <p:nvPr/>
        </p:nvGraphicFramePr>
        <p:xfrm>
          <a:off x="6629400" y="5193792"/>
          <a:ext cx="2834640" cy="11795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50" name="Shape 35"/>
          <p:cNvSpPr/>
          <p:nvPr/>
        </p:nvSpPr>
        <p:spPr>
          <a:xfrm>
            <a:off x="9464040" y="5349240"/>
            <a:ext cx="146304" cy="146304"/>
          </a:xfrm>
          <a:prstGeom prst="ellipse">
            <a:avLst/>
          </a:prstGeom>
          <a:solidFill>
            <a:srgbClr val="3ED6F0"/>
          </a:solidFill>
          <a:ln/>
        </p:spPr>
      </p:sp>
      <p:sp>
        <p:nvSpPr>
          <p:cNvPr id="51" name="Text 36"/>
          <p:cNvSpPr/>
          <p:nvPr/>
        </p:nvSpPr>
        <p:spPr>
          <a:xfrm>
            <a:off x="9683496" y="5276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 45.45%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9464040" y="5733288"/>
            <a:ext cx="146304" cy="146304"/>
          </a:xfrm>
          <a:prstGeom prst="ellipse">
            <a:avLst/>
          </a:prstGeom>
          <a:solidFill>
            <a:srgbClr val="C24BB0"/>
          </a:solidFill>
          <a:ln/>
        </p:spPr>
      </p:sp>
      <p:sp>
        <p:nvSpPr>
          <p:cNvPr id="53" name="Text 38"/>
          <p:cNvSpPr/>
          <p:nvPr/>
        </p:nvSpPr>
        <p:spPr>
          <a:xfrm>
            <a:off x="9683496" y="56601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 36.36%</a:t>
            </a:r>
            <a:endParaRPr lang="en-US" sz="1100" dirty="0"/>
          </a:p>
        </p:txBody>
      </p:sp>
      <p:sp>
        <p:nvSpPr>
          <p:cNvPr id="54" name="Shape 39"/>
          <p:cNvSpPr/>
          <p:nvPr/>
        </p:nvSpPr>
        <p:spPr>
          <a:xfrm>
            <a:off x="9464040" y="6117336"/>
            <a:ext cx="146304" cy="146304"/>
          </a:xfrm>
          <a:prstGeom prst="ellipse">
            <a:avLst/>
          </a:prstGeom>
          <a:solidFill>
            <a:srgbClr val="F5A25D"/>
          </a:solidFill>
          <a:ln/>
        </p:spPr>
      </p:sp>
      <p:sp>
        <p:nvSpPr>
          <p:cNvPr id="55" name="Text 40"/>
          <p:cNvSpPr/>
          <p:nvPr/>
        </p:nvSpPr>
        <p:spPr>
          <a:xfrm>
            <a:off x="9683496" y="6044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 18.18%</a:t>
            </a:r>
            <a:endParaRPr lang="en-US" sz="1100" dirty="0"/>
          </a:p>
        </p:txBody>
      </p:sp>
      <p:sp>
        <p:nvSpPr>
          <p:cNvPr id="56" name="Text 41"/>
          <p:cNvSpPr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— Location: Australia   |   Industry: Media   |   Experience: Mid-level (MI)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3ED6F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256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CUT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· Gaming Industry · Executive Talent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7" name="Image 0" descr="/home/claude/aideck/icons/dolla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125.68K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98064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2656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12" name="Image 1" descr="/home/claude/aideck/icons/briefc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8249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962656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047488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12080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17" name="Image 2" descr="/home/claude/aideck/icons/barcha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824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SALARY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212080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121.20K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296912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61504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22" name="Image 3" descr="/home/claude/aideck/icons/trenddown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682496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18704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SALARY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461504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95K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9546336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710928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27" name="Image 4" descr="/home/claude/aideck/icons/clo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1682496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68128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EXPERIENCE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9710928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15.00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548640" y="26060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" y="27523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32" name="Image 5" descr="/home/claude/aideck/icons/mappin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820924"/>
            <a:ext cx="173736" cy="1737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70432" y="27249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LOCATION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731520" y="3136392"/>
          <a:ext cx="512064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5" name="Shape 26"/>
          <p:cNvSpPr/>
          <p:nvPr/>
        </p:nvSpPr>
        <p:spPr>
          <a:xfrm>
            <a:off x="6309360" y="26060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92240" y="27523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37" name="Image 6" descr="/home/claude/aideck/icons/barchart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820" y="2820924"/>
            <a:ext cx="173736" cy="1737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31152" y="2724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EXPERIENCE LEVEL</a:t>
            </a:r>
            <a:endParaRPr lang="en-US" sz="1100" dirty="0"/>
          </a:p>
        </p:txBody>
      </p:sp>
      <p:graphicFrame>
        <p:nvGraphicFramePr>
          <p:cNvPr id="39" name="Chart 1" descr=""/>
          <p:cNvGraphicFramePr/>
          <p:nvPr/>
        </p:nvGraphicFramePr>
        <p:xfrm>
          <a:off x="6492240" y="3136392"/>
          <a:ext cx="475488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0" name="Shape 29"/>
          <p:cNvSpPr/>
          <p:nvPr/>
        </p:nvSpPr>
        <p:spPr>
          <a:xfrm>
            <a:off x="548640" y="466344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731520" y="4809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42" name="Image 7" descr="/home/claude/aideck/icons/award_light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878324"/>
            <a:ext cx="173736" cy="17373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70432" y="47823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JOB TITLE</a:t>
            </a:r>
            <a:endParaRPr lang="en-US" sz="1100" dirty="0"/>
          </a:p>
        </p:txBody>
      </p:sp>
      <p:graphicFrame>
        <p:nvGraphicFramePr>
          <p:cNvPr id="44" name="Chart 2" descr=""/>
          <p:cNvGraphicFramePr/>
          <p:nvPr/>
        </p:nvGraphicFramePr>
        <p:xfrm>
          <a:off x="731520" y="5193792"/>
          <a:ext cx="5120640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5" name="Shape 32"/>
          <p:cNvSpPr/>
          <p:nvPr/>
        </p:nvSpPr>
        <p:spPr>
          <a:xfrm>
            <a:off x="6309360" y="46634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6492240" y="4809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47" name="Image 8" descr="/home/claude/aideck/icons/home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0820" y="4878324"/>
            <a:ext cx="173736" cy="173736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931152" y="47823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JOBS BY WORK TYPE</a:t>
            </a:r>
            <a:endParaRPr lang="en-US" sz="1100" dirty="0"/>
          </a:p>
        </p:txBody>
      </p:sp>
      <p:graphicFrame>
        <p:nvGraphicFramePr>
          <p:cNvPr id="49" name="Chart 3" descr=""/>
          <p:cNvGraphicFramePr/>
          <p:nvPr/>
        </p:nvGraphicFramePr>
        <p:xfrm>
          <a:off x="6629400" y="5193792"/>
          <a:ext cx="2834640" cy="11795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50" name="Shape 35"/>
          <p:cNvSpPr/>
          <p:nvPr/>
        </p:nvSpPr>
        <p:spPr>
          <a:xfrm>
            <a:off x="9464040" y="5349240"/>
            <a:ext cx="146304" cy="146304"/>
          </a:xfrm>
          <a:prstGeom prst="ellipse">
            <a:avLst/>
          </a:prstGeom>
          <a:solidFill>
            <a:srgbClr val="3ED6F0"/>
          </a:solidFill>
          <a:ln/>
        </p:spPr>
      </p:sp>
      <p:sp>
        <p:nvSpPr>
          <p:cNvPr id="51" name="Text 36"/>
          <p:cNvSpPr/>
          <p:nvPr/>
        </p:nvSpPr>
        <p:spPr>
          <a:xfrm>
            <a:off x="9683496" y="5276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 50%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9464040" y="5733288"/>
            <a:ext cx="146304" cy="146304"/>
          </a:xfrm>
          <a:prstGeom prst="ellipse">
            <a:avLst/>
          </a:prstGeom>
          <a:solidFill>
            <a:srgbClr val="C24BB0"/>
          </a:solidFill>
          <a:ln/>
        </p:spPr>
      </p:sp>
      <p:sp>
        <p:nvSpPr>
          <p:cNvPr id="53" name="Text 38"/>
          <p:cNvSpPr/>
          <p:nvPr/>
        </p:nvSpPr>
        <p:spPr>
          <a:xfrm>
            <a:off x="9683496" y="56601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 40%</a:t>
            </a:r>
            <a:endParaRPr lang="en-US" sz="1100" dirty="0"/>
          </a:p>
        </p:txBody>
      </p:sp>
      <p:sp>
        <p:nvSpPr>
          <p:cNvPr id="54" name="Shape 39"/>
          <p:cNvSpPr/>
          <p:nvPr/>
        </p:nvSpPr>
        <p:spPr>
          <a:xfrm>
            <a:off x="9464040" y="6117336"/>
            <a:ext cx="146304" cy="146304"/>
          </a:xfrm>
          <a:prstGeom prst="ellipse">
            <a:avLst/>
          </a:prstGeom>
          <a:solidFill>
            <a:srgbClr val="F5A25D"/>
          </a:solidFill>
          <a:ln/>
        </p:spPr>
      </p:sp>
      <p:sp>
        <p:nvSpPr>
          <p:cNvPr id="55" name="Text 40"/>
          <p:cNvSpPr/>
          <p:nvPr/>
        </p:nvSpPr>
        <p:spPr>
          <a:xfrm>
            <a:off x="9683496" y="6044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 10%</a:t>
            </a:r>
            <a:endParaRPr lang="en-US" sz="1100" dirty="0"/>
          </a:p>
        </p:txBody>
      </p:sp>
      <p:sp>
        <p:nvSpPr>
          <p:cNvPr id="56" name="Text 41"/>
          <p:cNvSpPr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— Location: China   |   Industry: Gaming   |   Experience: Executive (EX)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3ED6F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256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CUT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 · Education Industry · Senior Talent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7" name="Image 0" descr="/home/claude/aideck/icons/dolla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146304" cy="1463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115.91K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98064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2656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12" name="Image 1" descr="/home/claude/aideck/icons/briefc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8249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JOBS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962656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047488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12080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17" name="Image 2" descr="/home/claude/aideck/icons/barcha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8249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SALARY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212080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116.46K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296912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61504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22" name="Image 3" descr="/home/claude/aideck/icons/trenddown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682496"/>
            <a:ext cx="146304" cy="1463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18704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SALARY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461504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109K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9546336" y="1417320"/>
            <a:ext cx="2084832" cy="960120"/>
          </a:xfrm>
          <a:prstGeom prst="roundRect">
            <a:avLst>
              <a:gd name="adj" fmla="val 8571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710928" y="1581912"/>
            <a:ext cx="347472" cy="347472"/>
          </a:xfrm>
          <a:prstGeom prst="roundRect">
            <a:avLst>
              <a:gd name="adj" fmla="val 23684"/>
            </a:avLst>
          </a:prstGeom>
          <a:solidFill>
            <a:srgbClr val="0A1230"/>
          </a:solidFill>
          <a:ln/>
        </p:spPr>
      </p:sp>
      <p:pic>
        <p:nvPicPr>
          <p:cNvPr id="27" name="Image 4" descr="/home/claude/aideck/icons/cloc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512" y="1682496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168128" y="1581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EXPERIENCE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9710928" y="1947672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6.75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548640" y="26060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31520" y="27523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32" name="Image 5" descr="/home/claude/aideck/icons/mappin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820924"/>
            <a:ext cx="173736" cy="17373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70432" y="27249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LOCATION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731520" y="3136392"/>
          <a:ext cx="512064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5" name="Shape 26"/>
          <p:cNvSpPr/>
          <p:nvPr/>
        </p:nvSpPr>
        <p:spPr>
          <a:xfrm>
            <a:off x="6309360" y="260604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92240" y="27523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37" name="Image 6" descr="/home/claude/aideck/icons/barchart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820" y="2820924"/>
            <a:ext cx="173736" cy="1737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31152" y="2724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EXPERIENCE LEVEL</a:t>
            </a:r>
            <a:endParaRPr lang="en-US" sz="1100" dirty="0"/>
          </a:p>
        </p:txBody>
      </p:sp>
      <p:graphicFrame>
        <p:nvGraphicFramePr>
          <p:cNvPr id="39" name="Chart 1" descr=""/>
          <p:cNvGraphicFramePr/>
          <p:nvPr/>
        </p:nvGraphicFramePr>
        <p:xfrm>
          <a:off x="6492240" y="3136392"/>
          <a:ext cx="475488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0" name="Shape 29"/>
          <p:cNvSpPr/>
          <p:nvPr/>
        </p:nvSpPr>
        <p:spPr>
          <a:xfrm>
            <a:off x="548640" y="466344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731520" y="4809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42" name="Image 7" descr="/home/claude/aideck/icons/award_light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878324"/>
            <a:ext cx="173736" cy="17373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170432" y="47823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AVG SALARY BY JOB TITLE</a:t>
            </a:r>
            <a:endParaRPr lang="en-US" sz="1100" dirty="0"/>
          </a:p>
        </p:txBody>
      </p:sp>
      <p:graphicFrame>
        <p:nvGraphicFramePr>
          <p:cNvPr id="44" name="Chart 2" descr=""/>
          <p:cNvGraphicFramePr/>
          <p:nvPr/>
        </p:nvGraphicFramePr>
        <p:xfrm>
          <a:off x="731520" y="5193792"/>
          <a:ext cx="5120640" cy="12161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5" name="Shape 32"/>
          <p:cNvSpPr/>
          <p:nvPr/>
        </p:nvSpPr>
        <p:spPr>
          <a:xfrm>
            <a:off x="6309360" y="466344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33"/>
          <p:cNvSpPr/>
          <p:nvPr/>
        </p:nvSpPr>
        <p:spPr>
          <a:xfrm>
            <a:off x="6492240" y="480974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0A1230"/>
          </a:solidFill>
          <a:ln/>
        </p:spPr>
      </p:sp>
      <p:pic>
        <p:nvPicPr>
          <p:cNvPr id="47" name="Image 8" descr="/home/claude/aideck/icons/home_gree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0820" y="4878324"/>
            <a:ext cx="173736" cy="173736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931152" y="47823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3D0"/>
                </a:solidFill>
              </a:rPr>
              <a:t>JOBS BY WORK TYPE</a:t>
            </a:r>
            <a:endParaRPr lang="en-US" sz="1100" dirty="0"/>
          </a:p>
        </p:txBody>
      </p:sp>
      <p:graphicFrame>
        <p:nvGraphicFramePr>
          <p:cNvPr id="49" name="Chart 3" descr=""/>
          <p:cNvGraphicFramePr/>
          <p:nvPr/>
        </p:nvGraphicFramePr>
        <p:xfrm>
          <a:off x="6629400" y="5193792"/>
          <a:ext cx="2834640" cy="11795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  <p:sp>
        <p:nvSpPr>
          <p:cNvPr id="50" name="Shape 35"/>
          <p:cNvSpPr/>
          <p:nvPr/>
        </p:nvSpPr>
        <p:spPr>
          <a:xfrm>
            <a:off x="9464040" y="5349240"/>
            <a:ext cx="146304" cy="146304"/>
          </a:xfrm>
          <a:prstGeom prst="ellipse">
            <a:avLst/>
          </a:prstGeom>
          <a:solidFill>
            <a:srgbClr val="3ED6F0"/>
          </a:solidFill>
          <a:ln/>
        </p:spPr>
      </p:sp>
      <p:sp>
        <p:nvSpPr>
          <p:cNvPr id="51" name="Text 36"/>
          <p:cNvSpPr/>
          <p:nvPr/>
        </p:nvSpPr>
        <p:spPr>
          <a:xfrm>
            <a:off x="9683496" y="5276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 35.71%</a:t>
            </a:r>
            <a:endParaRPr lang="en-US" sz="1100" dirty="0"/>
          </a:p>
        </p:txBody>
      </p:sp>
      <p:sp>
        <p:nvSpPr>
          <p:cNvPr id="52" name="Shape 37"/>
          <p:cNvSpPr/>
          <p:nvPr/>
        </p:nvSpPr>
        <p:spPr>
          <a:xfrm>
            <a:off x="9464040" y="5733288"/>
            <a:ext cx="146304" cy="146304"/>
          </a:xfrm>
          <a:prstGeom prst="ellipse">
            <a:avLst/>
          </a:prstGeom>
          <a:solidFill>
            <a:srgbClr val="C24BB0"/>
          </a:solidFill>
          <a:ln/>
        </p:spPr>
      </p:sp>
      <p:sp>
        <p:nvSpPr>
          <p:cNvPr id="53" name="Text 38"/>
          <p:cNvSpPr/>
          <p:nvPr/>
        </p:nvSpPr>
        <p:spPr>
          <a:xfrm>
            <a:off x="9683496" y="56601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 35.71%</a:t>
            </a:r>
            <a:endParaRPr lang="en-US" sz="1100" dirty="0"/>
          </a:p>
        </p:txBody>
      </p:sp>
      <p:sp>
        <p:nvSpPr>
          <p:cNvPr id="54" name="Shape 39"/>
          <p:cNvSpPr/>
          <p:nvPr/>
        </p:nvSpPr>
        <p:spPr>
          <a:xfrm>
            <a:off x="9464040" y="6117336"/>
            <a:ext cx="146304" cy="146304"/>
          </a:xfrm>
          <a:prstGeom prst="ellipse">
            <a:avLst/>
          </a:prstGeom>
          <a:solidFill>
            <a:srgbClr val="F5A25D"/>
          </a:solidFill>
          <a:ln/>
        </p:spPr>
      </p:sp>
      <p:sp>
        <p:nvSpPr>
          <p:cNvPr id="55" name="Text 40"/>
          <p:cNvSpPr/>
          <p:nvPr/>
        </p:nvSpPr>
        <p:spPr>
          <a:xfrm>
            <a:off x="9683496" y="6044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 28.57%</a:t>
            </a:r>
            <a:endParaRPr lang="en-US" sz="1100" dirty="0"/>
          </a:p>
        </p:txBody>
      </p:sp>
      <p:sp>
        <p:nvSpPr>
          <p:cNvPr id="56" name="Text 41"/>
          <p:cNvSpPr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— Location: France   |   Industry: Education   |   Experience: Senior (SE)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4160520"/>
            <a:ext cx="5029200" cy="5029200"/>
          </a:xfrm>
          <a:prstGeom prst="ellipse">
            <a:avLst/>
          </a:prstGeom>
          <a:solidFill>
            <a:srgbClr val="C24BB0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-2240280"/>
            <a:ext cx="5029200" cy="5029200"/>
          </a:xfrm>
          <a:prstGeom prst="ellipse">
            <a:avLst/>
          </a:prstGeom>
          <a:solidFill>
            <a:srgbClr val="3ED6F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47472"/>
            <a:ext cx="310896" cy="128016"/>
          </a:xfrm>
          <a:prstGeom prst="roundRect">
            <a:avLst>
              <a:gd name="adj" fmla="val 50000"/>
            </a:avLst>
          </a:prstGeom>
          <a:solidFill>
            <a:srgbClr val="3ED6F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56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Across Market Cuts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691640"/>
            <a:ext cx="512064" cy="512064"/>
          </a:xfrm>
          <a:prstGeom prst="ellipse">
            <a:avLst/>
          </a:prstGeom>
          <a:solidFill>
            <a:srgbClr val="3ED6F0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764792"/>
            <a:ext cx="365760" cy="365760"/>
          </a:xfrm>
          <a:prstGeom prst="ellipse">
            <a:avLst/>
          </a:prstGeom>
          <a:solidFill>
            <a:srgbClr val="3ED6F0"/>
          </a:solidFill>
          <a:ln/>
        </p:spPr>
      </p:sp>
      <p:pic>
        <p:nvPicPr>
          <p:cNvPr id="10" name="Image 0" descr="/home/claude/aideck/icons/trendup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192024" cy="1920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207008" y="1728216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060B1F"/>
          </a:solidFill>
          <a:ln w="12700">
            <a:solidFill>
              <a:srgbClr val="3ED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1728216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627632" y="1673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is the strongest salary lever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231343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Executive-level pay (EX) towers over every other band in all three cuts — up to 245K in the Australia/Media view — while Entry-level (EN) stays flattest, showing seniority outweighs geography or industry.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41732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1691640"/>
            <a:ext cx="512064" cy="512064"/>
          </a:xfrm>
          <a:prstGeom prst="ellipse">
            <a:avLst/>
          </a:prstGeom>
          <a:solidFill>
            <a:srgbClr val="F5A25D">
              <a:alpha val="1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764792"/>
            <a:ext cx="365760" cy="365760"/>
          </a:xfrm>
          <a:prstGeom prst="ellipse">
            <a:avLst/>
          </a:prstGeom>
          <a:solidFill>
            <a:srgbClr val="F5A25D"/>
          </a:solidFill>
          <a:ln/>
        </p:spPr>
      </p:sp>
      <p:pic>
        <p:nvPicPr>
          <p:cNvPr id="18" name="Image 1" descr="/home/claude/aideck/icons/mappi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851660"/>
            <a:ext cx="192024" cy="19202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922008" y="1728216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060B1F"/>
          </a:solidFill>
          <a:ln w="12700">
            <a:solidFill>
              <a:srgbClr val="F5A25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22008" y="1728216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2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342632" y="1673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 leads on location premium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37960" y="231343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 tops the avg-salary-by-location chart in all three cuts, with US, Sweden, UK, and South Korea consistently trailing in that order — a stable global pay hierarchy.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48640" y="38404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" y="4114800"/>
            <a:ext cx="512064" cy="512064"/>
          </a:xfrm>
          <a:prstGeom prst="ellipse">
            <a:avLst/>
          </a:prstGeom>
          <a:solidFill>
            <a:srgbClr val="5CE8B5">
              <a:alpha val="18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896112" y="4187952"/>
            <a:ext cx="365760" cy="365760"/>
          </a:xfrm>
          <a:prstGeom prst="ellipse">
            <a:avLst/>
          </a:prstGeom>
          <a:solidFill>
            <a:srgbClr val="5CE8B5"/>
          </a:solidFill>
          <a:ln/>
        </p:spPr>
      </p:sp>
      <p:pic>
        <p:nvPicPr>
          <p:cNvPr id="26" name="Image 2" descr="/home/claude/aideck/icons/home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192024" cy="19202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207008" y="4151376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060B1F"/>
          </a:solidFill>
          <a:ln w="12700">
            <a:solidFill>
              <a:srgbClr val="5CE8B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207008" y="4151376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8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627632" y="40965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work still dominates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822960" y="473659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Onsite is the largest work-type share in every cut (45%, 50%, 36%), with Gaming/China skewing most onsite-heavy and Education/France showing the most balanced hybrid/remote/onsite split.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263640" y="384048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0E1A3F"/>
          </a:solidFill>
          <a:ln w="12700">
            <a:solidFill>
              <a:srgbClr val="1E2C55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537960" y="4114800"/>
            <a:ext cx="512064" cy="512064"/>
          </a:xfrm>
          <a:prstGeom prst="ellipse">
            <a:avLst/>
          </a:prstGeom>
          <a:solidFill>
            <a:srgbClr val="8FF0FF">
              <a:alpha val="18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6611112" y="4187952"/>
            <a:ext cx="365760" cy="365760"/>
          </a:xfrm>
          <a:prstGeom prst="ellipse">
            <a:avLst/>
          </a:prstGeom>
          <a:solidFill>
            <a:srgbClr val="8FF0FF"/>
          </a:solidFill>
          <a:ln/>
        </p:spPr>
      </p:sp>
      <p:pic>
        <p:nvPicPr>
          <p:cNvPr id="34" name="Image 3" descr="/home/claude/aideck/icons/award_light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274820"/>
            <a:ext cx="192024" cy="19202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922008" y="4151376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060B1F"/>
          </a:solidFill>
          <a:ln w="12700">
            <a:solidFill>
              <a:srgbClr val="8FF0F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922008" y="4151376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7342632" y="40965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F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titles command premiums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6537960" y="4736592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technical titles — NLP Engineer, AI Software Engineer, Computer Vision Engineer — out-earn generalist or leadership titles like Head of AI within the same filtered segment.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2026-08-22T04:51:57Z</dcterms:created>
  <dcterms:modified xsi:type="dcterms:W3CDTF">2026-08-22T04:51:57Z</dcterms:modified>
</cp:coreProperties>
</file>